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96" y="-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BD5E1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CBD5E1"/>
                </a:solidFill>
                <a:latin typeface="Arial"/>
              </a:rPr>
              <a:t>Avg Delay by Carrier (days)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Delay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GlobalShip</c:v>
                </c:pt>
                <c:pt idx="1">
                  <c:v>OceanWave</c:v>
                </c:pt>
                <c:pt idx="2">
                  <c:v>FastLogistics</c:v>
                </c:pt>
                <c:pt idx="3">
                  <c:v>AirFreight</c:v>
                </c:pt>
                <c:pt idx="4">
                  <c:v>Unknown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4.1100000000000003</c:v>
                </c:pt>
                <c:pt idx="1">
                  <c:v>4.1100000000000003</c:v>
                </c:pt>
                <c:pt idx="2">
                  <c:v>4.0999999999999996</c:v>
                </c:pt>
                <c:pt idx="3">
                  <c:v>3.97</c:v>
                </c:pt>
                <c:pt idx="4">
                  <c:v>4.0199999999999996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7E-4209-980C-9B5BF7CB42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.3"/>
          <c:min val="3.8"/>
        </c:scaling>
        <c:delete val="0"/>
        <c:axPos val="l"/>
        <c:majorGridlines>
          <c:spPr>
            <a:ln w="6350" cap="flat">
              <a:solidFill>
                <a:srgbClr val="2E2E2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4242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BD5E1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CBD5E1"/>
                </a:solidFill>
                <a:latin typeface="Arial"/>
              </a:rPr>
              <a:t>Avg Delay by Origin Region (days)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Delay</c:v>
                </c:pt>
              </c:strCache>
            </c:strRef>
          </c:tx>
          <c:spPr>
            <a:solidFill>
              <a:srgbClr val="FFCC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India</c:v>
                </c:pt>
                <c:pt idx="1">
                  <c:v>USA</c:v>
                </c:pt>
                <c:pt idx="2">
                  <c:v>China</c:v>
                </c:pt>
                <c:pt idx="3">
                  <c:v>Brazil</c:v>
                </c:pt>
                <c:pt idx="4">
                  <c:v>Germany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4.2699999999999996</c:v>
                </c:pt>
                <c:pt idx="1">
                  <c:v>4.12</c:v>
                </c:pt>
                <c:pt idx="2">
                  <c:v>3.97</c:v>
                </c:pt>
                <c:pt idx="3">
                  <c:v>3.95</c:v>
                </c:pt>
                <c:pt idx="4">
                  <c:v>3.93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CA-4B50-A190-C98CF9D083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.4000000000000004"/>
          <c:min val="3.8"/>
        </c:scaling>
        <c:delete val="0"/>
        <c:axPos val="l"/>
        <c:majorGridlines>
          <c:spPr>
            <a:ln w="6350" cap="flat">
              <a:solidFill>
                <a:srgbClr val="2E2E2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4242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CBD5E1"/>
                </a:solidFill>
                <a:latin typeface="Arial"/>
              </a:rPr>
              <a:t>Absolute Correlation with Delay_Days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Distance</c:v>
                </c:pt>
                <c:pt idx="1">
                  <c:v>Weather</c:v>
                </c:pt>
                <c:pt idx="2">
                  <c:v>Quarter</c:v>
                </c:pt>
                <c:pt idx="3">
                  <c:v>Month</c:v>
                </c:pt>
                <c:pt idx="4">
                  <c:v>DayOfWeek</c:v>
                </c:pt>
                <c:pt idx="5">
                  <c:v>Port Cong.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2.1000000000000001E-2</c:v>
                </c:pt>
                <c:pt idx="1">
                  <c:v>1.0999999999999999E-2</c:v>
                </c:pt>
                <c:pt idx="2">
                  <c:v>1E-3</c:v>
                </c:pt>
                <c:pt idx="3">
                  <c:v>1E-3</c:v>
                </c:pt>
                <c:pt idx="4">
                  <c:v>1.0999999999999999E-2</c:v>
                </c:pt>
                <c:pt idx="5">
                  <c:v>3.1E-2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33-4822-B8ED-B375151FF2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E2E2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42424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BD5E1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CBD5E1"/>
                </a:solidFill>
                <a:latin typeface="Arial"/>
              </a:rPr>
              <a:t>Mean |SHAP Value| — Feature Importance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|SHAP|</c:v>
                </c:pt>
              </c:strCache>
            </c:strRef>
          </c:tx>
          <c:spPr>
            <a:solidFill>
              <a:srgbClr val="FFCC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F83-4491-8630-53287091BA6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F83-4491-8630-53287091BA64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F83-4491-8630-53287091BA64}"/>
              </c:ext>
            </c:extLst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F83-4491-8630-53287091BA64}"/>
              </c:ext>
            </c:extLst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F83-4491-8630-53287091BA64}"/>
              </c:ext>
            </c:extLst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F83-4491-8630-53287091BA64}"/>
              </c:ext>
            </c:extLst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F83-4491-8630-53287091BA64}"/>
              </c:ext>
            </c:extLst>
          </c:dPt>
          <c:dPt>
            <c:idx val="7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F83-4491-8630-53287091BA64}"/>
              </c:ext>
            </c:extLst>
          </c:dPt>
          <c:dPt>
            <c:idx val="8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EF83-4491-8630-53287091BA6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Distance_KM</c:v>
                </c:pt>
                <c:pt idx="1">
                  <c:v>Port_Congestion</c:v>
                </c:pt>
                <c:pt idx="2">
                  <c:v>Weather_Index</c:v>
                </c:pt>
                <c:pt idx="3">
                  <c:v>Planned_Month</c:v>
                </c:pt>
                <c:pt idx="4">
                  <c:v>Origin_India</c:v>
                </c:pt>
                <c:pt idx="5">
                  <c:v>Cargo_Perishable</c:v>
                </c:pt>
                <c:pt idx="6">
                  <c:v>DayOfWeek</c:v>
                </c:pt>
                <c:pt idx="7">
                  <c:v>Carrier_Global</c:v>
                </c:pt>
                <c:pt idx="8">
                  <c:v>Others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0.38</c:v>
                </c:pt>
                <c:pt idx="1">
                  <c:v>0.37</c:v>
                </c:pt>
                <c:pt idx="2">
                  <c:v>0.22</c:v>
                </c:pt>
                <c:pt idx="3">
                  <c:v>0.16</c:v>
                </c:pt>
                <c:pt idx="4">
                  <c:v>0.13</c:v>
                </c:pt>
                <c:pt idx="5">
                  <c:v>0.12</c:v>
                </c:pt>
                <c:pt idx="6">
                  <c:v>0.11</c:v>
                </c:pt>
                <c:pt idx="7">
                  <c:v>7.0000000000000007E-2</c:v>
                </c:pt>
                <c:pt idx="8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EF83-4491-8630-53287091BA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E2E2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4242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391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0511"/>
          </a:solidFill>
          <a:ln w="12700">
            <a:solidFill>
              <a:srgbClr val="D405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0040" y="256032"/>
            <a:ext cx="2011680" cy="64008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20040" y="118872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Freight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20040" y="2788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Machine Learning Case Study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" y="3246120"/>
            <a:ext cx="5943600" cy="27432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33832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Sree Harsha   |   Data Scientist Candidate   |   March 2026</a:t>
            </a:r>
            <a:endParaRPr lang="en-US" sz="13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0"/>
            <a:ext cx="1645920" cy="16459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74320" y="477316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 •  EDA  •  ML Modelling  •  SHAP Explainability  •  FastAPI  •  Streamlit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DHL needs a delay prediction model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60704"/>
            <a:ext cx="8321040" cy="2286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8321040" cy="1005840"/>
          </a:xfrm>
          <a:prstGeom prst="rect">
            <a:avLst/>
          </a:prstGeom>
          <a:solidFill>
            <a:srgbClr val="242424"/>
          </a:solidFill>
          <a:ln w="12700">
            <a:solidFill>
              <a:srgbClr val="D4051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8321040" cy="45720"/>
          </a:xfrm>
          <a:prstGeom prst="rect">
            <a:avLst/>
          </a:prstGeom>
          <a:solidFill>
            <a:srgbClr val="D40511"/>
          </a:solidFill>
          <a:ln w="12700">
            <a:solidFill>
              <a:srgbClr val="D405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12984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77.1% of shipments arrive late with an average delay of 4 days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prediction, the operations team can only react after delays occur — never before.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377440"/>
            <a:ext cx="2651760" cy="1188720"/>
          </a:xfrm>
          <a:prstGeom prst="rect">
            <a:avLst/>
          </a:prstGeom>
          <a:solidFill>
            <a:srgbClr val="242424"/>
          </a:solidFill>
          <a:ln w="12700">
            <a:solidFill>
              <a:srgbClr val="2E2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11480" y="2377440"/>
            <a:ext cx="2651760" cy="45720"/>
          </a:xfrm>
          <a:prstGeom prst="rect">
            <a:avLst/>
          </a:prstGeom>
          <a:solidFill>
            <a:srgbClr val="D40511"/>
          </a:solidFill>
          <a:ln w="12700">
            <a:solidFill>
              <a:srgbClr val="D405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21208" y="2505456"/>
            <a:ext cx="2432304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405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77.1%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02920" y="3114446"/>
            <a:ext cx="246888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 Delayed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2377440"/>
            <a:ext cx="2651760" cy="1188720"/>
          </a:xfrm>
          <a:prstGeom prst="rect">
            <a:avLst/>
          </a:prstGeom>
          <a:solidFill>
            <a:srgbClr val="242424"/>
          </a:solidFill>
          <a:ln w="12700">
            <a:solidFill>
              <a:srgbClr val="2E2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246120" y="2377440"/>
            <a:ext cx="2651760" cy="4572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355848" y="2505456"/>
            <a:ext cx="2432304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Days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337560" y="3114446"/>
            <a:ext cx="246888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Delay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2377440"/>
            <a:ext cx="2651760" cy="1188720"/>
          </a:xfrm>
          <a:prstGeom prst="rect">
            <a:avLst/>
          </a:prstGeom>
          <a:solidFill>
            <a:srgbClr val="242424"/>
          </a:solidFill>
          <a:ln w="12700">
            <a:solidFill>
              <a:srgbClr val="2E2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080760" y="2377440"/>
            <a:ext cx="265176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190488" y="2505456"/>
            <a:ext cx="2432304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172200" y="3114446"/>
            <a:ext cx="246888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Records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749040"/>
            <a:ext cx="8321040" cy="804672"/>
          </a:xfrm>
          <a:prstGeom prst="rect">
            <a:avLst/>
          </a:prstGeom>
          <a:solidFill>
            <a:srgbClr val="242424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94360" y="3822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4078224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model that predicts shipment delay days at booking time — giving operations teams a head start to intervene proactively.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freight_shipment_data.csv — 5,000 records, 9 features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60704"/>
            <a:ext cx="8321040" cy="2286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37160"/>
            <a:ext cx="640080" cy="64008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70432"/>
          <a:ext cx="8321040" cy="312724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Issues Found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Origin_Region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 of origin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labels for 5 countries ⚠️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Carrier_Name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Logistics carrier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missing (1002 nulls) ⚠️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Cargo_Type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Standard/Perishable/etc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Planned_ETA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arrival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as string — needs conversion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Actual_Arrival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arrival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as string — needs conversion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Weather_Index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 severity 1-10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 outlier values at 99 ⚠️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Port_Congestion_Level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Congestion score 0-1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 missing (250 nulls) ⚠️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Distance_KM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Shipping distance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11480" y="4572000"/>
            <a:ext cx="8321040" cy="402336"/>
          </a:xfrm>
          <a:prstGeom prst="rect">
            <a:avLst/>
          </a:prstGeom>
          <a:solidFill>
            <a:srgbClr val="242424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548640" y="460857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data quality issues identified before touching any model   |   Raw data never modified — all fixes applied to a copy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554480" y="914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3840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the target variable and new features from raw data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8595360" cy="640080"/>
          </a:xfrm>
          <a:prstGeom prst="rect">
            <a:avLst/>
          </a:prstGeom>
          <a:solidFill>
            <a:srgbClr val="1A1A1A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8869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Feature Engineering?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0" y="8869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rarely comes in the best form for ML. I created 5 new features: 1 target variable from date subtraction and 4 time-based signals to capture seasonality patterns.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600200"/>
            <a:ext cx="8595360" cy="1234440"/>
          </a:xfrm>
          <a:prstGeom prst="rect">
            <a:avLst/>
          </a:prstGeom>
          <a:solidFill>
            <a:srgbClr val="1A1A1A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74320" y="1600200"/>
            <a:ext cx="64008" cy="123444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74320" y="1600200"/>
            <a:ext cx="8595360" cy="2926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45920"/>
            <a:ext cx="201168" cy="20116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85800" y="16367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 —  Delay_Days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58000" y="1645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FROM DATES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5720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Delay_Days  =  Actual_Arrival  —  Planned_ETA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303520" y="1920240"/>
            <a:ext cx="1078992" cy="65836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303520" y="194767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303520" y="213055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-2 days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303520" y="231343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Arrived EARLY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473952" y="1920240"/>
            <a:ext cx="1078992" cy="6583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6473952" y="194767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73952" y="213055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 0 days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473952" y="231343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Arrived ON TIME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644384" y="1920240"/>
            <a:ext cx="1078992" cy="6583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7644384" y="194767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644384" y="213055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+7 days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644384" y="2313432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Arrived LATE (delayed)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7200" y="23225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Range = -2 to +10 days   |   77.1% shipments delayed   |   Mean delay = 4.06 days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83464" y="2971800"/>
            <a:ext cx="2029968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274320" y="2971800"/>
            <a:ext cx="64008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108960"/>
            <a:ext cx="274320" cy="27432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77240" y="3108960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Planned_Month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384048" y="3456432"/>
            <a:ext cx="182880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1"/>
          <p:cNvSpPr/>
          <p:nvPr/>
        </p:nvSpPr>
        <p:spPr>
          <a:xfrm>
            <a:off x="411480" y="3474720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df['Planned_ETA'].dt.month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384048" y="381304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Values: 1 (Jan) to 12 (Dec)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384048" y="402336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monthly seasonality. Is August busier than March? Are delays worse near year-end?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2450592" y="2971800"/>
            <a:ext cx="2029968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5"/>
          <p:cNvSpPr/>
          <p:nvPr/>
        </p:nvSpPr>
        <p:spPr>
          <a:xfrm>
            <a:off x="2450592" y="2971800"/>
            <a:ext cx="64008" cy="1920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7752" y="3108960"/>
            <a:ext cx="274320" cy="274320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2953512" y="3108960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Planned_DayOfWeek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2560320" y="3456432"/>
            <a:ext cx="182880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38"/>
          <p:cNvSpPr/>
          <p:nvPr/>
        </p:nvSpPr>
        <p:spPr>
          <a:xfrm>
            <a:off x="2587752" y="3474720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df['Planned_ETA'].dt.dayofweek</a:t>
            </a:r>
            <a:endParaRPr lang="en-US" sz="800" dirty="0"/>
          </a:p>
        </p:txBody>
      </p:sp>
      <p:sp>
        <p:nvSpPr>
          <p:cNvPr id="44" name="Text 39"/>
          <p:cNvSpPr/>
          <p:nvPr/>
        </p:nvSpPr>
        <p:spPr>
          <a:xfrm>
            <a:off x="2560320" y="381304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Values: 0 (Mon) to 6 (Sun)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2560320" y="402336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weekly patterns. Friday pickups may have higher delay rates than Tuesday pickups.</a:t>
            </a:r>
            <a:endParaRPr lang="en-US" sz="900" dirty="0"/>
          </a:p>
        </p:txBody>
      </p:sp>
      <p:sp>
        <p:nvSpPr>
          <p:cNvPr id="46" name="Shape 41"/>
          <p:cNvSpPr/>
          <p:nvPr/>
        </p:nvSpPr>
        <p:spPr>
          <a:xfrm>
            <a:off x="4626864" y="2971800"/>
            <a:ext cx="2029968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2"/>
          <p:cNvSpPr/>
          <p:nvPr/>
        </p:nvSpPr>
        <p:spPr>
          <a:xfrm>
            <a:off x="4626864" y="2971800"/>
            <a:ext cx="64008" cy="1920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3108960"/>
            <a:ext cx="274320" cy="274320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5129784" y="3108960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Planned_Quarter</a:t>
            </a:r>
            <a:endParaRPr lang="en-US" sz="1100" dirty="0"/>
          </a:p>
        </p:txBody>
      </p:sp>
      <p:sp>
        <p:nvSpPr>
          <p:cNvPr id="50" name="Shape 44"/>
          <p:cNvSpPr/>
          <p:nvPr/>
        </p:nvSpPr>
        <p:spPr>
          <a:xfrm>
            <a:off x="4736592" y="3456432"/>
            <a:ext cx="182880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5"/>
          <p:cNvSpPr/>
          <p:nvPr/>
        </p:nvSpPr>
        <p:spPr>
          <a:xfrm>
            <a:off x="4764024" y="3474720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df['Planned_ETA'].dt.quarter</a:t>
            </a:r>
            <a:endParaRPr lang="en-US" sz="800" dirty="0"/>
          </a:p>
        </p:txBody>
      </p:sp>
      <p:sp>
        <p:nvSpPr>
          <p:cNvPr id="52" name="Text 46"/>
          <p:cNvSpPr/>
          <p:nvPr/>
        </p:nvSpPr>
        <p:spPr>
          <a:xfrm>
            <a:off x="4736592" y="381304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Values: 1, 2, 3, 4</a:t>
            </a:r>
            <a:endParaRPr lang="en-US" sz="900" dirty="0"/>
          </a:p>
        </p:txBody>
      </p:sp>
      <p:sp>
        <p:nvSpPr>
          <p:cNvPr id="53" name="Text 47"/>
          <p:cNvSpPr/>
          <p:nvPr/>
        </p:nvSpPr>
        <p:spPr>
          <a:xfrm>
            <a:off x="4736592" y="402336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quarterly business cycles. Q4 holiday season typically means higher volumes and more delays.</a:t>
            </a:r>
            <a:endParaRPr lang="en-US" sz="900" dirty="0"/>
          </a:p>
        </p:txBody>
      </p:sp>
      <p:sp>
        <p:nvSpPr>
          <p:cNvPr id="54" name="Shape 48"/>
          <p:cNvSpPr/>
          <p:nvPr/>
        </p:nvSpPr>
        <p:spPr>
          <a:xfrm>
            <a:off x="6803136" y="2971800"/>
            <a:ext cx="2029968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49"/>
          <p:cNvSpPr/>
          <p:nvPr/>
        </p:nvSpPr>
        <p:spPr>
          <a:xfrm>
            <a:off x="6803136" y="2971800"/>
            <a:ext cx="64008" cy="19202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0296" y="3108960"/>
            <a:ext cx="274320" cy="274320"/>
          </a:xfrm>
          <a:prstGeom prst="rect">
            <a:avLst/>
          </a:prstGeom>
        </p:spPr>
      </p:pic>
      <p:sp>
        <p:nvSpPr>
          <p:cNvPr id="57" name="Text 50"/>
          <p:cNvSpPr/>
          <p:nvPr/>
        </p:nvSpPr>
        <p:spPr>
          <a:xfrm>
            <a:off x="7306056" y="3108960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Is_Delayed</a:t>
            </a:r>
            <a:endParaRPr lang="en-US" sz="1100" dirty="0"/>
          </a:p>
        </p:txBody>
      </p:sp>
      <p:sp>
        <p:nvSpPr>
          <p:cNvPr id="58" name="Shape 51"/>
          <p:cNvSpPr/>
          <p:nvPr/>
        </p:nvSpPr>
        <p:spPr>
          <a:xfrm>
            <a:off x="6912864" y="3456432"/>
            <a:ext cx="182880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2"/>
          <p:cNvSpPr/>
          <p:nvPr/>
        </p:nvSpPr>
        <p:spPr>
          <a:xfrm>
            <a:off x="6940296" y="3474720"/>
            <a:ext cx="1801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AE6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(df['Delay_Days'] &gt; 0).astype(int)</a:t>
            </a:r>
            <a:endParaRPr lang="en-US" sz="800" dirty="0"/>
          </a:p>
        </p:txBody>
      </p:sp>
      <p:sp>
        <p:nvSpPr>
          <p:cNvPr id="60" name="Text 53"/>
          <p:cNvSpPr/>
          <p:nvPr/>
        </p:nvSpPr>
        <p:spPr>
          <a:xfrm>
            <a:off x="6912864" y="381304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Values: 1 (delayed) or 0 (on time)</a:t>
            </a:r>
            <a:endParaRPr lang="en-US" sz="900" dirty="0"/>
          </a:p>
        </p:txBody>
      </p:sp>
      <p:sp>
        <p:nvSpPr>
          <p:cNvPr id="61" name="Text 54"/>
          <p:cNvSpPr/>
          <p:nvPr/>
        </p:nvSpPr>
        <p:spPr>
          <a:xfrm>
            <a:off x="6912864" y="4023360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flag created for EDA only — to easily visualise and compare delay rates across categories. Dropped before modelling.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first. Decide after. Every fix was evidence-backed.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60704"/>
            <a:ext cx="8321040" cy="2286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37160"/>
            <a:ext cx="64008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170432"/>
            <a:ext cx="4023360" cy="1572768"/>
          </a:xfrm>
          <a:prstGeom prst="rect">
            <a:avLst/>
          </a:prstGeom>
          <a:solidFill>
            <a:srgbClr val="242424"/>
          </a:solidFill>
          <a:ln w="12700">
            <a:solidFill>
              <a:srgbClr val="2E2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11480" y="1170432"/>
            <a:ext cx="402336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02920" y="12618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78408" y="1261872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Region Standardisation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21208" y="1627632"/>
            <a:ext cx="3822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inconsistent labels -&gt; 5 clean countries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DE/Germany -&gt; Germany   |   U.S./USA/United States -&gt; USA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CN/China -&gt; China   |   IN/India -&gt; India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11480" y="2944368"/>
            <a:ext cx="4023360" cy="1572768"/>
          </a:xfrm>
          <a:prstGeom prst="rect">
            <a:avLst/>
          </a:prstGeom>
          <a:solidFill>
            <a:srgbClr val="242424"/>
          </a:solidFill>
          <a:ln w="12700">
            <a:solidFill>
              <a:srgbClr val="2E2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11480" y="2944368"/>
            <a:ext cx="4023360" cy="4572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02920" y="30358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978408" y="3035808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Name — 20% Missing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21208" y="3401568"/>
            <a:ext cx="3822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carriers equally distributed (~1000 each).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 with mode would bias GlobalShip artificially.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Fill with 'Unknown' — honest and preserves signal.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617720" y="1170432"/>
            <a:ext cx="4023360" cy="1572768"/>
          </a:xfrm>
          <a:prstGeom prst="rect">
            <a:avLst/>
          </a:prstGeom>
          <a:solidFill>
            <a:srgbClr val="242424"/>
          </a:solidFill>
          <a:ln w="12700">
            <a:solidFill>
              <a:srgbClr val="2E2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4617720" y="1170432"/>
            <a:ext cx="402336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4709160" y="12618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184648" y="1261872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Congestion Level — 5% Missing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727448" y="1627632"/>
            <a:ext cx="3822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skewness = -0.007 (near zero). Mean = Median = 0.51.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is uniform — not skewed as assumed.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Fill with mean (0.51) — correct for symmetric data.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617720" y="2944368"/>
            <a:ext cx="4023360" cy="1572768"/>
          </a:xfrm>
          <a:prstGeom prst="rect">
            <a:avLst/>
          </a:prstGeom>
          <a:solidFill>
            <a:srgbClr val="242424"/>
          </a:solidFill>
          <a:ln w="12700">
            <a:solidFill>
              <a:srgbClr val="2E2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4617720" y="2944368"/>
            <a:ext cx="4023360" cy="45720"/>
          </a:xfrm>
          <a:prstGeom prst="rect">
            <a:avLst/>
          </a:prstGeom>
          <a:solidFill>
            <a:srgbClr val="D40511"/>
          </a:solidFill>
          <a:ln w="12700">
            <a:solidFill>
              <a:srgbClr val="D405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709160" y="303580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05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184648" y="3035808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Index — 251 Fake Outliers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727448" y="3401568"/>
            <a:ext cx="3822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jump from 1-10 directly to 99. Zero values between 11-98.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data entry errors — not real extreme weather.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Replace &gt;10 with clean median (5.0).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11480" y="4636008"/>
            <a:ext cx="8321040" cy="338328"/>
          </a:xfrm>
          <a:prstGeom prst="rect">
            <a:avLst/>
          </a:prstGeom>
          <a:solidFill>
            <a:srgbClr val="242424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548640" y="46634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fixes verified — zero nulls remaining — shape unchanged (5000, 9) — raw dataframe preserved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Key Finding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categorical features show near-identical delay rates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60704"/>
            <a:ext cx="8321040" cy="2286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37160"/>
            <a:ext cx="640080" cy="640080"/>
          </a:xfrm>
          <a:prstGeom prst="rect">
            <a:avLst/>
          </a:prstGeom>
        </p:spPr>
      </p:pic>
      <p:graphicFrame>
        <p:nvGraphicFramePr>
          <p:cNvPr id="7" name="Chart 0"/>
          <p:cNvGraphicFramePr/>
          <p:nvPr/>
        </p:nvGraphicFramePr>
        <p:xfrm>
          <a:off x="411480" y="1170432"/>
          <a:ext cx="41148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4709160" y="1170432"/>
          <a:ext cx="402336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Shape 4"/>
          <p:cNvSpPr/>
          <p:nvPr/>
        </p:nvSpPr>
        <p:spPr>
          <a:xfrm>
            <a:off x="411480" y="3520440"/>
            <a:ext cx="8321040" cy="777240"/>
          </a:xfrm>
          <a:prstGeom prst="rect">
            <a:avLst/>
          </a:prstGeom>
          <a:solidFill>
            <a:srgbClr val="242424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411480" y="3520440"/>
            <a:ext cx="8321040" cy="45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6"/>
          <p:cNvSpPr/>
          <p:nvPr/>
        </p:nvSpPr>
        <p:spPr>
          <a:xfrm>
            <a:off x="594360" y="3593592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Pattern — All 3 categorical features show negligible differences in delay. Max variation &lt; 0.35 days.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411480" y="4434840"/>
            <a:ext cx="8321040" cy="548640"/>
          </a:xfrm>
          <a:prstGeom prst="rect">
            <a:avLst/>
          </a:prstGeom>
          <a:solidFill>
            <a:srgbClr val="242424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8"/>
          <p:cNvSpPr/>
          <p:nvPr/>
        </p:nvSpPr>
        <p:spPr>
          <a:xfrm>
            <a:off x="594360" y="450799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Numerical features (Distance_KM, Port_Congestion_Level, Weather_Index) are the true drivers of delay.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correlations — the most important finding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60704"/>
            <a:ext cx="8321040" cy="2286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6" name="Chart 0"/>
          <p:cNvGraphicFramePr/>
          <p:nvPr/>
        </p:nvGraphicFramePr>
        <p:xfrm>
          <a:off x="411480" y="1170432"/>
          <a:ext cx="47548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349240" y="1170432"/>
            <a:ext cx="3383280" cy="822960"/>
          </a:xfrm>
          <a:prstGeom prst="rect">
            <a:avLst/>
          </a:prstGeom>
          <a:solidFill>
            <a:srgbClr val="242424"/>
          </a:solidFill>
          <a:ln w="12700">
            <a:solidFill>
              <a:srgbClr val="2E2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349240" y="1170432"/>
            <a:ext cx="45720" cy="822960"/>
          </a:xfrm>
          <a:prstGeom prst="rect">
            <a:avLst/>
          </a:prstGeom>
          <a:solidFill>
            <a:srgbClr val="D40511"/>
          </a:solidFill>
          <a:ln w="12700">
            <a:solidFill>
              <a:srgbClr val="D405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486400" y="12618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— No Linear Signal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0" y="151790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show correlation &lt; 0.03.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for meaningful: &gt; 0.10.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will underperform.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49240" y="2103120"/>
            <a:ext cx="3383280" cy="822960"/>
          </a:xfrm>
          <a:prstGeom prst="rect">
            <a:avLst/>
          </a:prstGeom>
          <a:solidFill>
            <a:srgbClr val="242424"/>
          </a:solidFill>
          <a:ln w="12700">
            <a:solidFill>
              <a:srgbClr val="2E2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5349240" y="2103120"/>
            <a:ext cx="45720" cy="82296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486400" y="21945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— Multicollinearity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0" y="245059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Planned_Month vs Planned_Quarter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= 0.96.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Quarter — kept Month.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349240" y="3035808"/>
            <a:ext cx="3383280" cy="822960"/>
          </a:xfrm>
          <a:prstGeom prst="rect">
            <a:avLst/>
          </a:prstGeom>
          <a:solidFill>
            <a:srgbClr val="242424"/>
          </a:solidFill>
          <a:ln w="12700">
            <a:solidFill>
              <a:srgbClr val="2E2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5349240" y="3035808"/>
            <a:ext cx="4572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486400" y="31272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 for Models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0" y="338328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models may find non-linear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and interactions that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cannot detect.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11480" y="4050792"/>
            <a:ext cx="8321040" cy="548640"/>
          </a:xfrm>
          <a:prstGeom prst="rect">
            <a:avLst/>
          </a:prstGeom>
          <a:solidFill>
            <a:srgbClr val="242424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94360" y="413308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finding predicted that all models would struggle — which was confirmed during evaluation.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pipelines — production-ready from day one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60704"/>
            <a:ext cx="8321040" cy="2286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37160"/>
            <a:ext cx="64008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170432"/>
            <a:ext cx="8321040" cy="457200"/>
          </a:xfrm>
          <a:prstGeom prst="rect">
            <a:avLst/>
          </a:prstGeom>
          <a:solidFill>
            <a:srgbClr val="242424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94360" y="124358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Decision: Preprocessing + Model packaged as ONE sklearn Pipeline — encoding inside, not before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1480" y="1783080"/>
            <a:ext cx="1554480" cy="731520"/>
          </a:xfrm>
          <a:prstGeom prst="rect">
            <a:avLst/>
          </a:prstGeom>
          <a:solidFill>
            <a:srgbClr val="242424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11480" y="1783080"/>
            <a:ext cx="1554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975104" y="2084832"/>
            <a:ext cx="109728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2093976" y="1783080"/>
            <a:ext cx="1554480" cy="731520"/>
          </a:xfrm>
          <a:prstGeom prst="rect">
            <a:avLst/>
          </a:prstGeom>
          <a:solidFill>
            <a:srgbClr val="242424"/>
          </a:solidFill>
          <a:ln w="12700">
            <a:solidFill>
              <a:srgbClr val="FFC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093976" y="1783080"/>
            <a:ext cx="1554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0" y="2084832"/>
            <a:ext cx="109728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3776472" y="1783080"/>
            <a:ext cx="1554480" cy="731520"/>
          </a:xfrm>
          <a:prstGeom prst="rect">
            <a:avLst/>
          </a:prstGeom>
          <a:solidFill>
            <a:srgbClr val="242424"/>
          </a:solidFill>
          <a:ln w="12700">
            <a:solidFill>
              <a:srgbClr val="FFC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3776472" y="1783080"/>
            <a:ext cx="1554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340096" y="2084832"/>
            <a:ext cx="109728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5458968" y="1783080"/>
            <a:ext cx="1554480" cy="731520"/>
          </a:xfrm>
          <a:prstGeom prst="rect">
            <a:avLst/>
          </a:prstGeom>
          <a:solidFill>
            <a:srgbClr val="242424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458968" y="1783080"/>
            <a:ext cx="1554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022592" y="2084832"/>
            <a:ext cx="109728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7141464" y="1783080"/>
            <a:ext cx="1554480" cy="731520"/>
          </a:xfrm>
          <a:prstGeom prst="rect">
            <a:avLst/>
          </a:prstGeom>
          <a:solidFill>
            <a:srgbClr val="242424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7141464" y="1783080"/>
            <a:ext cx="15544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days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11480" y="2697480"/>
            <a:ext cx="2633472" cy="1691640"/>
          </a:xfrm>
          <a:prstGeom prst="rect">
            <a:avLst/>
          </a:prstGeom>
          <a:solidFill>
            <a:srgbClr val="242424"/>
          </a:solidFill>
          <a:ln w="1270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411480" y="2697480"/>
            <a:ext cx="2633472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521208" y="2779776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21208" y="3090672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21208" y="3310128"/>
            <a:ext cx="2414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linear relationships.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model — sets the floor.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to underperform.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27832" y="2697480"/>
            <a:ext cx="2633472" cy="1691640"/>
          </a:xfrm>
          <a:prstGeom prst="rect">
            <a:avLst/>
          </a:prstGeom>
          <a:solidFill>
            <a:srgbClr val="242424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3227832" y="2697480"/>
            <a:ext cx="263347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3337560" y="2779776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3337560" y="3090672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3337560" y="3310128"/>
            <a:ext cx="2414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trees, parallel training.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non-linearity.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variance via averaging.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044184" y="2697480"/>
            <a:ext cx="2633472" cy="1691640"/>
          </a:xfrm>
          <a:prstGeom prst="rect">
            <a:avLst/>
          </a:prstGeom>
          <a:solidFill>
            <a:srgbClr val="242424"/>
          </a:solidFill>
          <a:ln w="12700">
            <a:solidFill>
              <a:srgbClr val="FFC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6044184" y="2697480"/>
            <a:ext cx="2633472" cy="54864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6153912" y="2779776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153912" y="3090672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153912" y="3310128"/>
            <a:ext cx="2414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error correction.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expected performance.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regularisation.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411480" y="4526280"/>
            <a:ext cx="8321040" cy="457200"/>
          </a:xfrm>
          <a:prstGeom prst="rect">
            <a:avLst/>
          </a:prstGeom>
          <a:solidFill>
            <a:srgbClr val="242424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594360" y="459028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Split: 80% (4000 rows) / 20% (1000 rows)   |   random_state=42   |   5-Fold Cross Validation applied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 — The Honest Story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performed near baseline. Here is why — and why this is valuable.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60704"/>
            <a:ext cx="8321040" cy="2286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37160"/>
            <a:ext cx="640080" cy="64008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70432"/>
          <a:ext cx="8321040" cy="138988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R² (5-fold)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 (Best)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-0.002 +/- 0.003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405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405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-0.064 +/- 0.009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405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405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-0.101 +/- 0.007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11480" y="2907792"/>
            <a:ext cx="1920240" cy="1325880"/>
          </a:xfrm>
          <a:prstGeom prst="rect">
            <a:avLst/>
          </a:prstGeom>
          <a:solidFill>
            <a:srgbClr val="242424"/>
          </a:solidFill>
          <a:ln w="12700">
            <a:solidFill>
              <a:srgbClr val="D4051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11480" y="2907792"/>
            <a:ext cx="1920240" cy="45720"/>
          </a:xfrm>
          <a:prstGeom prst="rect">
            <a:avLst/>
          </a:prstGeom>
          <a:solidFill>
            <a:srgbClr val="D40511"/>
          </a:solidFill>
          <a:ln w="12700">
            <a:solidFill>
              <a:srgbClr val="D405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502920" y="2971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Distribution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02920" y="3246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days perfectly flat -2 to +10.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delays are always skewed.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514600" y="2907792"/>
            <a:ext cx="1920240" cy="1325880"/>
          </a:xfrm>
          <a:prstGeom prst="rect">
            <a:avLst/>
          </a:prstGeom>
          <a:solidFill>
            <a:srgbClr val="242424"/>
          </a:solidFill>
          <a:ln w="12700">
            <a:solidFill>
              <a:srgbClr val="EA58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2514600" y="2907792"/>
            <a:ext cx="1920240" cy="457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2606040" y="2971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Category Rates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606040" y="3246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carriers within 2%.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regions within 3%.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in real data.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17720" y="2907792"/>
            <a:ext cx="1920240" cy="1325880"/>
          </a:xfrm>
          <a:prstGeom prst="rect">
            <a:avLst/>
          </a:prstGeom>
          <a:solidFill>
            <a:srgbClr val="242424"/>
          </a:solidFill>
          <a:ln w="12700">
            <a:solidFill>
              <a:srgbClr val="FFC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4617720" y="2907792"/>
            <a:ext cx="1920240" cy="4572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4709160" y="2971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Correlations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709160" y="3246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 exceeds 0.03.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logistics always has signal.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720840" y="2907792"/>
            <a:ext cx="1920240" cy="1325880"/>
          </a:xfrm>
          <a:prstGeom prst="rect">
            <a:avLst/>
          </a:prstGeom>
          <a:solidFill>
            <a:srgbClr val="242424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6720840" y="2907792"/>
            <a:ext cx="19202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6812280" y="2971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Hurts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812280" y="32461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&lt; Linear Regression.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noise overfitting sign.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learnable patterns exist.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11480" y="4370832"/>
            <a:ext cx="8321040" cy="621792"/>
          </a:xfrm>
          <a:prstGeom prst="rect">
            <a:avLst/>
          </a:prstGeom>
          <a:solidFill>
            <a:srgbClr val="242424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1"/>
          <p:cNvSpPr/>
          <p:nvPr/>
        </p:nvSpPr>
        <p:spPr>
          <a:xfrm>
            <a:off x="594360" y="443484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architecture is production-ready. The limitation is data signal — not the approach.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94360" y="46817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real DHL operational data with genuine signal, these same pipelines would perform significantly better.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poor R², the model's internal logic is sensible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60704"/>
            <a:ext cx="8321040" cy="2286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37160"/>
            <a:ext cx="640080" cy="640080"/>
          </a:xfrm>
          <a:prstGeom prst="rect">
            <a:avLst/>
          </a:prstGeom>
        </p:spPr>
      </p:pic>
      <p:graphicFrame>
        <p:nvGraphicFramePr>
          <p:cNvPr id="7" name="Chart 0"/>
          <p:cNvGraphicFramePr/>
          <p:nvPr/>
        </p:nvGraphicFramePr>
        <p:xfrm>
          <a:off x="411480" y="1170432"/>
          <a:ext cx="50292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5623560" y="1170432"/>
            <a:ext cx="3108960" cy="822960"/>
          </a:xfrm>
          <a:prstGeom prst="rect">
            <a:avLst/>
          </a:prstGeom>
          <a:solidFill>
            <a:srgbClr val="242424"/>
          </a:solidFill>
          <a:ln w="12700">
            <a:solidFill>
              <a:srgbClr val="2E2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5"/>
          <p:cNvSpPr/>
          <p:nvPr/>
        </p:nvSpPr>
        <p:spPr>
          <a:xfrm>
            <a:off x="5623560" y="1170432"/>
            <a:ext cx="45720" cy="82296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5760720" y="12618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Features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760720" y="1517904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Distance_KM (0.38) and Port_Congestion (0.37)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 — together over 50% of importance.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our EDA hypothesis.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623560" y="2103120"/>
            <a:ext cx="3108960" cy="822960"/>
          </a:xfrm>
          <a:prstGeom prst="rect">
            <a:avLst/>
          </a:prstGeom>
          <a:solidFill>
            <a:srgbClr val="242424"/>
          </a:solidFill>
          <a:ln w="12700">
            <a:solidFill>
              <a:srgbClr val="2E2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5623560" y="2103120"/>
            <a:ext cx="45720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5760720" y="2194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Logic is Sound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760720" y="245059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Distance -&gt; more delay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Port Congestion -&gt; more delay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Weather -&gt; more delay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623560" y="3035808"/>
            <a:ext cx="3108960" cy="822960"/>
          </a:xfrm>
          <a:prstGeom prst="rect">
            <a:avLst/>
          </a:prstGeom>
          <a:solidFill>
            <a:srgbClr val="242424"/>
          </a:solidFill>
          <a:ln w="12700">
            <a:solidFill>
              <a:srgbClr val="2E2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5623560" y="3035808"/>
            <a:ext cx="4572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5760720" y="31272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= Least Important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760720" y="338328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carrier features rank at bottom.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EDA finding.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carriers won't fix delays.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11480" y="4133088"/>
            <a:ext cx="8321040" cy="475488"/>
          </a:xfrm>
          <a:prstGeom prst="rect">
            <a:avLst/>
          </a:prstGeom>
          <a:solidFill>
            <a:srgbClr val="242424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594360" y="419709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confirms: the model learned correct directional relationships even if signal was too weak for accurate prediction.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+ Streamlit frontend — fully decoupled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60704"/>
            <a:ext cx="8321040" cy="2286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37160"/>
            <a:ext cx="64008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280160"/>
            <a:ext cx="1737360" cy="822960"/>
          </a:xfrm>
          <a:prstGeom prst="rect">
            <a:avLst/>
          </a:prstGeom>
          <a:solidFill>
            <a:srgbClr val="242424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1280160"/>
            <a:ext cx="17373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Details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203704" y="1627632"/>
            <a:ext cx="164592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2468880" y="1280160"/>
            <a:ext cx="1737360" cy="822960"/>
          </a:xfrm>
          <a:prstGeom prst="rect">
            <a:avLst/>
          </a:prstGeom>
          <a:solidFill>
            <a:srgbClr val="242424"/>
          </a:solidFill>
          <a:ln w="12700">
            <a:solidFill>
              <a:srgbClr val="FFC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2468880" y="1280160"/>
            <a:ext cx="17373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:8501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15384" y="1627632"/>
            <a:ext cx="164592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480560" y="1280160"/>
            <a:ext cx="1737360" cy="822960"/>
          </a:xfrm>
          <a:prstGeom prst="rect">
            <a:avLst/>
          </a:prstGeom>
          <a:solidFill>
            <a:srgbClr val="242424"/>
          </a:solidFill>
          <a:ln w="12700">
            <a:solidFill>
              <a:srgbClr val="D4051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480560" y="1280160"/>
            <a:ext cx="17373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:8000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27064" y="1627632"/>
            <a:ext cx="164592" cy="12801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6492240" y="1280160"/>
            <a:ext cx="1737360" cy="822960"/>
          </a:xfrm>
          <a:prstGeom prst="rect">
            <a:avLst/>
          </a:prstGeom>
          <a:solidFill>
            <a:srgbClr val="242424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492240" y="1280160"/>
            <a:ext cx="173736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11480" y="2331720"/>
            <a:ext cx="8321040" cy="384048"/>
          </a:xfrm>
          <a:prstGeom prst="rect">
            <a:avLst/>
          </a:prstGeom>
          <a:solidFill>
            <a:srgbClr val="242424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11480" y="2331720"/>
            <a:ext cx="8229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11480" y="23317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325880" y="23682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834640" y="236829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 — API and model status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11480" y="2807208"/>
            <a:ext cx="8321040" cy="384048"/>
          </a:xfrm>
          <a:prstGeom prst="rect">
            <a:avLst/>
          </a:prstGeom>
          <a:solidFill>
            <a:srgbClr val="242424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411480" y="2807208"/>
            <a:ext cx="822960" cy="384048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411480" y="280720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325880" y="284378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834640" y="2843784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endpoint — takes shipment details, returns delay + risk level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11480" y="3282696"/>
            <a:ext cx="8321040" cy="384048"/>
          </a:xfrm>
          <a:prstGeom prst="rect">
            <a:avLst/>
          </a:prstGeom>
          <a:solidFill>
            <a:srgbClr val="242424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411480" y="3282696"/>
            <a:ext cx="822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411480" y="328269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325880" y="33192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/docs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2834640" y="3319272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Swagger UI — interactive API documentation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11480" y="3758184"/>
            <a:ext cx="8321040" cy="384048"/>
          </a:xfrm>
          <a:prstGeom prst="rect">
            <a:avLst/>
          </a:prstGeom>
          <a:solidFill>
            <a:srgbClr val="242424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411480" y="3758184"/>
            <a:ext cx="822960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411480" y="375818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325880" y="37947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2834640" y="379476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— API information and available endpoints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411480" y="4636008"/>
            <a:ext cx="8321040" cy="347472"/>
          </a:xfrm>
          <a:prstGeom prst="rect">
            <a:avLst/>
          </a:prstGeom>
          <a:solidFill>
            <a:srgbClr val="242424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594360" y="46817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 with Docker  •  docker-compose up --build starts the entire system  •  Any frontend can consume the API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+ FastAPI Swagger UI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60704"/>
            <a:ext cx="8321040" cy="2286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37160"/>
            <a:ext cx="64008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170432"/>
            <a:ext cx="4023360" cy="841248"/>
          </a:xfrm>
          <a:prstGeom prst="rect">
            <a:avLst/>
          </a:prstGeom>
          <a:solidFill>
            <a:srgbClr val="242424"/>
          </a:solidFill>
          <a:ln w="12700">
            <a:solidFill>
              <a:srgbClr val="2E2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21208" y="1261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🎛️  Input Form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1208" y="155448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origin, carrier, cargo type, weather, port congestion and distance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17720" y="1170432"/>
            <a:ext cx="4023360" cy="841248"/>
          </a:xfrm>
          <a:prstGeom prst="rect">
            <a:avLst/>
          </a:prstGeom>
          <a:solidFill>
            <a:srgbClr val="242424"/>
          </a:solidFill>
          <a:ln w="12700">
            <a:solidFill>
              <a:srgbClr val="2E2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727448" y="1261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Prediction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727448" y="155448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days returned from FastAPI /predict endpoint in real time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1480" y="2176272"/>
            <a:ext cx="4023360" cy="841248"/>
          </a:xfrm>
          <a:prstGeom prst="rect">
            <a:avLst/>
          </a:prstGeom>
          <a:solidFill>
            <a:srgbClr val="242424"/>
          </a:solidFill>
          <a:ln w="12700">
            <a:solidFill>
              <a:srgbClr val="2E2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21208" y="22677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 Risk Level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21208" y="256032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 classification with colour coding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17720" y="2176272"/>
            <a:ext cx="4023360" cy="841248"/>
          </a:xfrm>
          <a:prstGeom prst="rect">
            <a:avLst/>
          </a:prstGeom>
          <a:solidFill>
            <a:srgbClr val="242424"/>
          </a:solidFill>
          <a:ln w="12700">
            <a:solidFill>
              <a:srgbClr val="2E2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727448" y="22677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Business Message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27448" y="256032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recommendation for the operations team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11480" y="3182112"/>
            <a:ext cx="4023360" cy="841248"/>
          </a:xfrm>
          <a:prstGeom prst="rect">
            <a:avLst/>
          </a:prstGeom>
          <a:solidFill>
            <a:srgbClr val="242424"/>
          </a:solidFill>
          <a:ln w="12700">
            <a:solidFill>
              <a:srgbClr val="2E2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21208" y="32735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Input Summary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21208" y="356616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input parameters shown for transparency and audit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617720" y="3182112"/>
            <a:ext cx="4023360" cy="841248"/>
          </a:xfrm>
          <a:prstGeom prst="rect">
            <a:avLst/>
          </a:prstGeom>
          <a:solidFill>
            <a:srgbClr val="242424"/>
          </a:solidFill>
          <a:ln w="12700">
            <a:solidFill>
              <a:srgbClr val="2E2E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4727448" y="32735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Raw API Response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727448" y="356616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 from FastAPI shown for technical validation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11480" y="4224528"/>
            <a:ext cx="8321040" cy="749808"/>
          </a:xfrm>
          <a:prstGeom prst="rect">
            <a:avLst/>
          </a:prstGeom>
          <a:solidFill>
            <a:srgbClr val="242424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594360" y="42976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locally: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94360" y="453542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1:  uvicorn app.main:app --reload        -&gt;  API at http://127.0.0.1:8000/docs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2:  streamlit run streamlit_app.py       -&gt;  Dashboard at http://localhost:8501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built, what was found, what comes next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060704"/>
            <a:ext cx="8321040" cy="22860"/>
          </a:xfrm>
          <a:prstGeom prst="rect">
            <a:avLst/>
          </a:prstGeom>
          <a:solidFill>
            <a:srgbClr val="2E2E2E"/>
          </a:solidFill>
          <a:ln w="12700">
            <a:solidFill>
              <a:srgbClr val="2E2E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37160"/>
            <a:ext cx="640080" cy="640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1170432"/>
            <a:ext cx="4023360" cy="1645920"/>
          </a:xfrm>
          <a:prstGeom prst="rect">
            <a:avLst/>
          </a:prstGeom>
          <a:solidFill>
            <a:srgbClr val="242424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11480" y="1170432"/>
            <a:ext cx="402336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48640" y="12435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1536192"/>
            <a:ext cx="37490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 (clean -&gt; model -&gt; deploy)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 compared with full evaluation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analysis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API with Swagger docs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— production ready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Dockerised deployment setup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17720" y="1170432"/>
            <a:ext cx="4114800" cy="1645920"/>
          </a:xfrm>
          <a:prstGeom prst="rect">
            <a:avLst/>
          </a:prstGeom>
          <a:solidFill>
            <a:srgbClr val="242424"/>
          </a:solidFill>
          <a:ln w="12700">
            <a:solidFill>
              <a:srgbClr val="FFC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617720" y="1170432"/>
            <a:ext cx="4114800" cy="54864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754880" y="1243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754880" y="1536192"/>
            <a:ext cx="3840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shows signs of synthetic generation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correlations across all features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performed at baseline (R2 approx 0)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models performed WORSE than linear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confirmed — structural, not a fluke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shows correct directional logic despite R2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1480" y="2971800"/>
            <a:ext cx="8321040" cy="1481328"/>
          </a:xfrm>
          <a:prstGeom prst="rect">
            <a:avLst/>
          </a:prstGeom>
          <a:solidFill>
            <a:srgbClr val="242424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411480" y="2971800"/>
            <a:ext cx="83210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94360" y="30449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Production Deployment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94360" y="3337560"/>
            <a:ext cx="795528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dataset with real signals — customs status, port names, shipment weight, carrier history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12+ months of real DHL data — retrain with same pipelines for significant R2 improvement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FastAPI as internal DHL microservice — any system can query for real-time delay scores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monitoring for data drift and model performance decay in production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Sree Harsha   |   AI/ML Engineer   |   DHL Data Scientist Case Study   |   March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</TotalTime>
  <Words>1683</Words>
  <Application>Microsoft Office PowerPoint</Application>
  <PresentationFormat>On-screen Show (16:9)</PresentationFormat>
  <Paragraphs>293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DHL Delayed Freight Predictor</dc:title>
  <dc:subject>PptxGenJS Presentation</dc:subject>
  <dc:creator>K Sree Harsha</dc:creator>
  <cp:lastModifiedBy>K.Sree Harsha</cp:lastModifiedBy>
  <cp:revision>2</cp:revision>
  <dcterms:created xsi:type="dcterms:W3CDTF">2026-03-19T15:54:46Z</dcterms:created>
  <dcterms:modified xsi:type="dcterms:W3CDTF">2026-03-22T15:53:38Z</dcterms:modified>
</cp:coreProperties>
</file>